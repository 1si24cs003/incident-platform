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ITC Avant Garde Gothic" charset="1" panose="020B0502020202020204"/>
      <p:regular r:id="rId26"/>
    </p:embeddedFont>
    <p:embeddedFont>
      <p:font typeface="TT Fors" charset="1" panose="020B0003030001020000"/>
      <p:regular r:id="rId27"/>
    </p:embeddedFont>
    <p:embeddedFont>
      <p:font typeface="TT Fors Bold" charset="1" panose="020B0003030001020000"/>
      <p:regular r:id="rId28"/>
    </p:embeddedFont>
    <p:embeddedFont>
      <p:font typeface="DM Sans" charset="1" panose="00000000000000000000"/>
      <p:regular r:id="rId29"/>
    </p:embeddedFont>
    <p:embeddedFont>
      <p:font typeface="DM Sans Bold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6216649"/>
            <a:chOff x="0" y="0"/>
            <a:chExt cx="13017500" cy="82888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7104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Incident Reporting &amp; Response Platform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EMERGENCY MANAGEMENT SOLUTIONS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Presented by Abdullah Saad Sharief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375" y="197752"/>
            <a:ext cx="12837501" cy="139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8"/>
              </a:lnSpc>
              <a:spcBef>
                <a:spcPct val="0"/>
              </a:spcBef>
            </a:pPr>
            <a:r>
              <a:rPr lang="en-US" sz="9168" spc="-275" strike="noStrike" u="none">
                <a:solidFill>
                  <a:srgbClr val="D1D9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2720" y="2557668"/>
            <a:ext cx="10736458" cy="189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1"/>
              </a:lnSpc>
            </a:pPr>
            <a:r>
              <a:rPr lang="en-US" sz="2708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Emergency response is hindered by </a:t>
            </a:r>
            <a:r>
              <a:rPr lang="en-US" b="true" sz="2708">
                <a:solidFill>
                  <a:srgbClr val="D1D9E6"/>
                </a:solidFill>
                <a:latin typeface="TT Fors Bold"/>
                <a:ea typeface="TT Fors Bold"/>
                <a:cs typeface="TT Fors Bold"/>
                <a:sym typeface="TT Fors Bold"/>
              </a:rPr>
              <a:t>delayed incident reporting</a:t>
            </a:r>
            <a:r>
              <a:rPr lang="en-US" sz="2708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, a lack of report verification, and poor coordination among responders, resulting in slower response times and increased risks to public safety.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2720" y="1800914"/>
            <a:ext cx="11189148" cy="56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  <a:spcBef>
                <a:spcPct val="0"/>
              </a:spcBef>
            </a:pPr>
            <a:r>
              <a:rPr lang="en-US" sz="3667" spc="-110" strike="noStrike" u="none">
                <a:solidFill>
                  <a:srgbClr val="3C8DBC"/>
                </a:solidFill>
                <a:latin typeface="TT Fors"/>
                <a:ea typeface="TT Fors"/>
                <a:cs typeface="TT Fors"/>
                <a:sym typeface="TT Fors"/>
              </a:rPr>
              <a:t>Key Challenges in Response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44700" y="8093975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5460862"/>
            <a:ext cx="9621783" cy="4425067"/>
            <a:chOff x="0" y="0"/>
            <a:chExt cx="12829044" cy="590009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829044" cy="5900090"/>
              <a:chOff x="0" y="0"/>
              <a:chExt cx="2534132" cy="1165450"/>
            </a:xfrm>
          </p:grpSpPr>
          <p:sp>
            <p:nvSpPr>
              <p:cNvPr name="Freeform 11" id="1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2534132" cy="1165450"/>
              </a:xfrm>
              <a:custGeom>
                <a:avLst/>
                <a:gdLst/>
                <a:ahLst/>
                <a:cxnLst/>
                <a:rect r="r" b="b" t="t" l="l"/>
                <a:pathLst>
                  <a:path h="1165450" w="2534132">
                    <a:moveTo>
                      <a:pt x="14483" y="0"/>
                    </a:moveTo>
                    <a:lnTo>
                      <a:pt x="2519649" y="0"/>
                    </a:lnTo>
                    <a:cubicBezTo>
                      <a:pt x="2523490" y="0"/>
                      <a:pt x="2527174" y="1526"/>
                      <a:pt x="2529890" y="4242"/>
                    </a:cubicBezTo>
                    <a:cubicBezTo>
                      <a:pt x="2532606" y="6958"/>
                      <a:pt x="2534132" y="10642"/>
                      <a:pt x="2534132" y="14483"/>
                    </a:cubicBezTo>
                    <a:lnTo>
                      <a:pt x="2534132" y="1150967"/>
                    </a:lnTo>
                    <a:cubicBezTo>
                      <a:pt x="2534132" y="1158965"/>
                      <a:pt x="2527648" y="1165450"/>
                      <a:pt x="2519649" y="1165450"/>
                    </a:cubicBezTo>
                    <a:lnTo>
                      <a:pt x="14483" y="1165450"/>
                    </a:lnTo>
                    <a:cubicBezTo>
                      <a:pt x="10642" y="1165450"/>
                      <a:pt x="6958" y="1163924"/>
                      <a:pt x="4242" y="1161208"/>
                    </a:cubicBezTo>
                    <a:cubicBezTo>
                      <a:pt x="1526" y="1158492"/>
                      <a:pt x="0" y="1154808"/>
                      <a:pt x="0" y="1150967"/>
                    </a:cubicBezTo>
                    <a:lnTo>
                      <a:pt x="0" y="14483"/>
                    </a:lnTo>
                    <a:cubicBezTo>
                      <a:pt x="0" y="10642"/>
                      <a:pt x="1526" y="6958"/>
                      <a:pt x="4242" y="4242"/>
                    </a:cubicBezTo>
                    <a:cubicBezTo>
                      <a:pt x="6958" y="1526"/>
                      <a:pt x="10642" y="0"/>
                      <a:pt x="14483" y="0"/>
                    </a:cubicBez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34132" cy="120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743158" y="600489"/>
              <a:ext cx="6566118" cy="4427645"/>
              <a:chOff x="0" y="0"/>
              <a:chExt cx="762948" cy="51446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62948" cy="514469"/>
              </a:xfrm>
              <a:custGeom>
                <a:avLst/>
                <a:gdLst/>
                <a:ahLst/>
                <a:cxnLst/>
                <a:rect r="r" b="b" t="t" l="l"/>
                <a:pathLst>
                  <a:path h="514469" w="762948">
                    <a:moveTo>
                      <a:pt x="25154" y="0"/>
                    </a:moveTo>
                    <a:lnTo>
                      <a:pt x="737794" y="0"/>
                    </a:lnTo>
                    <a:cubicBezTo>
                      <a:pt x="751686" y="0"/>
                      <a:pt x="762948" y="11262"/>
                      <a:pt x="762948" y="25154"/>
                    </a:cubicBezTo>
                    <a:lnTo>
                      <a:pt x="762948" y="489315"/>
                    </a:lnTo>
                    <a:cubicBezTo>
                      <a:pt x="762948" y="503207"/>
                      <a:pt x="751686" y="514469"/>
                      <a:pt x="737794" y="514469"/>
                    </a:cubicBezTo>
                    <a:lnTo>
                      <a:pt x="25154" y="514469"/>
                    </a:lnTo>
                    <a:cubicBezTo>
                      <a:pt x="11262" y="514469"/>
                      <a:pt x="0" y="503207"/>
                      <a:pt x="0" y="489315"/>
                    </a:cubicBezTo>
                    <a:lnTo>
                      <a:pt x="0" y="25154"/>
                    </a:lnTo>
                    <a:cubicBezTo>
                      <a:pt x="0" y="11262"/>
                      <a:pt x="11262" y="0"/>
                      <a:pt x="25154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42" t="0" r="-42" b="0"/>
                </a:stretch>
              </a:blip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754902" y="676689"/>
              <a:ext cx="458185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Delayed Reporting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54902" y="2590611"/>
              <a:ext cx="4581856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Delays in reporting incidents increase response times and public safety risks.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21783" y="3972227"/>
            <a:ext cx="8666217" cy="3930291"/>
            <a:chOff x="0" y="0"/>
            <a:chExt cx="2282460" cy="1035138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82460" cy="1035138"/>
            </a:xfrm>
            <a:custGeom>
              <a:avLst/>
              <a:gdLst/>
              <a:ahLst/>
              <a:cxnLst/>
              <a:rect r="r" b="b" t="t" l="l"/>
              <a:pathLst>
                <a:path h="1035138" w="2282460">
                  <a:moveTo>
                    <a:pt x="16080" y="0"/>
                  </a:moveTo>
                  <a:lnTo>
                    <a:pt x="2266380" y="0"/>
                  </a:lnTo>
                  <a:cubicBezTo>
                    <a:pt x="2270645" y="0"/>
                    <a:pt x="2274735" y="1694"/>
                    <a:pt x="2277751" y="4710"/>
                  </a:cubicBezTo>
                  <a:cubicBezTo>
                    <a:pt x="2280766" y="7725"/>
                    <a:pt x="2282460" y="11815"/>
                    <a:pt x="2282460" y="16080"/>
                  </a:cubicBezTo>
                  <a:lnTo>
                    <a:pt x="2282460" y="1019058"/>
                  </a:lnTo>
                  <a:cubicBezTo>
                    <a:pt x="2282460" y="1027939"/>
                    <a:pt x="2275261" y="1035138"/>
                    <a:pt x="2266380" y="1035138"/>
                  </a:cubicBezTo>
                  <a:lnTo>
                    <a:pt x="16080" y="1035138"/>
                  </a:lnTo>
                  <a:cubicBezTo>
                    <a:pt x="7199" y="1035138"/>
                    <a:pt x="0" y="1027939"/>
                    <a:pt x="0" y="1019058"/>
                  </a:cubicBezTo>
                  <a:lnTo>
                    <a:pt x="0" y="16080"/>
                  </a:lnTo>
                  <a:cubicBezTo>
                    <a:pt x="0" y="7199"/>
                    <a:pt x="7199" y="0"/>
                    <a:pt x="16080" y="0"/>
                  </a:cubicBez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2460" cy="10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24352" y="4460471"/>
            <a:ext cx="4031372" cy="2718422"/>
            <a:chOff x="0" y="0"/>
            <a:chExt cx="762948" cy="5144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30727" y="0"/>
                  </a:moveTo>
                  <a:lnTo>
                    <a:pt x="732221" y="0"/>
                  </a:lnTo>
                  <a:cubicBezTo>
                    <a:pt x="740370" y="0"/>
                    <a:pt x="748186" y="3237"/>
                    <a:pt x="753948" y="9000"/>
                  </a:cubicBezTo>
                  <a:cubicBezTo>
                    <a:pt x="759710" y="14762"/>
                    <a:pt x="762948" y="22577"/>
                    <a:pt x="762948" y="30727"/>
                  </a:cubicBezTo>
                  <a:lnTo>
                    <a:pt x="762948" y="483742"/>
                  </a:lnTo>
                  <a:cubicBezTo>
                    <a:pt x="762948" y="491891"/>
                    <a:pt x="759710" y="499706"/>
                    <a:pt x="753948" y="505469"/>
                  </a:cubicBezTo>
                  <a:cubicBezTo>
                    <a:pt x="748186" y="511231"/>
                    <a:pt x="740370" y="514469"/>
                    <a:pt x="732221" y="514469"/>
                  </a:cubicBezTo>
                  <a:lnTo>
                    <a:pt x="30727" y="514469"/>
                  </a:lnTo>
                  <a:cubicBezTo>
                    <a:pt x="22577" y="514469"/>
                    <a:pt x="14762" y="511231"/>
                    <a:pt x="9000" y="505469"/>
                  </a:cubicBezTo>
                  <a:cubicBezTo>
                    <a:pt x="3237" y="499706"/>
                    <a:pt x="0" y="491891"/>
                    <a:pt x="0" y="483742"/>
                  </a:cubicBezTo>
                  <a:lnTo>
                    <a:pt x="0" y="30727"/>
                  </a:lnTo>
                  <a:cubicBezTo>
                    <a:pt x="0" y="22577"/>
                    <a:pt x="3237" y="14762"/>
                    <a:pt x="9000" y="9000"/>
                  </a:cubicBezTo>
                  <a:cubicBezTo>
                    <a:pt x="14762" y="3237"/>
                    <a:pt x="22577" y="0"/>
                    <a:pt x="30727" y="0"/>
                  </a:cubicBezTo>
                  <a:close/>
                </a:path>
              </a:pathLst>
            </a:custGeom>
            <a:blipFill>
              <a:blip r:embed="rId5"/>
              <a:stretch>
                <a:fillRect l="-42" t="0" r="-4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187960" y="4536671"/>
            <a:ext cx="343639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Lack of Verification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87960" y="5950168"/>
            <a:ext cx="343639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2000" strike="noStrike" u="none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Insufficient verification processes lead to unreliable incident data and response inaccuracies.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810898"/>
            <a:chOff x="0" y="0"/>
            <a:chExt cx="8828958" cy="24145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Real-Time Reporting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Emergency response requires </a:t>
              </a:r>
              <a:r>
                <a:rPr lang="en-US" b="true" sz="2000" strike="noStrike" u="none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immediate data availability</a:t>
              </a: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 to ensure the safety of affected individuals and timely action.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810898"/>
            <a:chOff x="0" y="0"/>
            <a:chExt cx="8828958" cy="24145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Live Coordination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Enhanced communication among responders is essential for </a:t>
              </a:r>
              <a:r>
                <a:rPr lang="en-US" b="true" sz="2000" strike="noStrike" u="none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efficient resource allocation</a:t>
              </a: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, minimizing delays and improving response times.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810898"/>
            <a:chOff x="0" y="0"/>
            <a:chExt cx="8558790" cy="2414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Verification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Confirming incident authenticity is vital to </a:t>
              </a:r>
              <a:r>
                <a:rPr lang="en-US" b="true" sz="2000" strike="noStrike" u="none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prevent false alarms</a:t>
              </a: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 and ensure resources are allocated effectively during emergencies.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810898"/>
            <a:chOff x="0" y="0"/>
            <a:chExt cx="8558790" cy="24145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Public Engagement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Engaging the public in reporting is crucial to </a:t>
              </a:r>
              <a:r>
                <a:rPr lang="en-US" b="true" sz="2000" strike="noStrike" u="none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maximize incident awareness</a:t>
              </a: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, creating a collaborative approach to safety and response.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Key Challenges in Incident 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247" y="3783694"/>
            <a:ext cx="4499346" cy="2193743"/>
            <a:chOff x="0" y="0"/>
            <a:chExt cx="5999127" cy="29249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299473"/>
              <a:ext cx="5999127" cy="1625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8"/>
                </a:lnSpc>
              </a:pPr>
              <a:r>
                <a:rPr lang="en-US" sz="2356" spc="-5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Real-time reporting ensures immediate data availability for critical incidents.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3847421" cy="80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308"/>
                </a:lnSpc>
                <a:spcBef>
                  <a:spcPct val="0"/>
                </a:spcBef>
              </a:pPr>
              <a:r>
                <a:rPr lang="en-US" sz="3590" spc="-107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0365" y="3783694"/>
            <a:ext cx="4499346" cy="2193743"/>
            <a:chOff x="0" y="0"/>
            <a:chExt cx="5999127" cy="292499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99473"/>
              <a:ext cx="5999127" cy="1625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8"/>
                </a:lnSpc>
              </a:pPr>
              <a:r>
                <a:rPr lang="en-US" sz="2356" spc="-5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Verification processes confirm incident authenticity before dispatching responders.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3847421" cy="80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308"/>
                </a:lnSpc>
                <a:spcBef>
                  <a:spcPct val="0"/>
                </a:spcBef>
              </a:pPr>
              <a:r>
                <a:rPr lang="en-US" sz="3590" spc="-107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85483" y="3783694"/>
            <a:ext cx="4499346" cy="2193743"/>
            <a:chOff x="0" y="0"/>
            <a:chExt cx="5999127" cy="292499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99473"/>
              <a:ext cx="5999127" cy="1625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8"/>
                </a:lnSpc>
              </a:pPr>
              <a:r>
                <a:rPr lang="en-US" sz="2356" spc="-5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Live coordination enhances communication among all emergency response roles.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3847421" cy="80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308"/>
                </a:lnSpc>
                <a:spcBef>
                  <a:spcPct val="0"/>
                </a:spcBef>
              </a:pPr>
              <a:r>
                <a:rPr lang="en-US" sz="3590" spc="-107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Proposed Solution 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5247" y="2779090"/>
            <a:ext cx="919106" cy="500478"/>
            <a:chOff x="0" y="0"/>
            <a:chExt cx="1225475" cy="6673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58172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30365" y="2779090"/>
            <a:ext cx="919106" cy="500478"/>
            <a:chOff x="0" y="0"/>
            <a:chExt cx="1225475" cy="6673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58172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85483" y="2779090"/>
            <a:ext cx="919106" cy="500478"/>
            <a:chOff x="0" y="0"/>
            <a:chExt cx="1225475" cy="6673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58172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7303" cy="667303"/>
            </a:xfrm>
            <a:custGeom>
              <a:avLst/>
              <a:gdLst/>
              <a:ahLst/>
              <a:cxnLst/>
              <a:rect r="r" b="b" t="t" l="l"/>
              <a:pathLst>
                <a:path h="667303" w="667303">
                  <a:moveTo>
                    <a:pt x="0" y="0"/>
                  </a:moveTo>
                  <a:lnTo>
                    <a:pt x="667303" y="0"/>
                  </a:lnTo>
                  <a:lnTo>
                    <a:pt x="667303" y="667303"/>
                  </a:lnTo>
                  <a:lnTo>
                    <a:pt x="0" y="66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62954" y="6482262"/>
            <a:ext cx="7865539" cy="3617369"/>
            <a:chOff x="0" y="0"/>
            <a:chExt cx="10487385" cy="482315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487385" cy="4823159"/>
              <a:chOff x="0" y="0"/>
              <a:chExt cx="2534132" cy="1165450"/>
            </a:xfrm>
          </p:grpSpPr>
          <p:sp>
            <p:nvSpPr>
              <p:cNvPr name="Freeform 23" id="2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2534132" cy="1165450"/>
              </a:xfrm>
              <a:custGeom>
                <a:avLst/>
                <a:gdLst/>
                <a:ahLst/>
                <a:cxnLst/>
                <a:rect r="r" b="b" t="t" l="l"/>
                <a:pathLst>
                  <a:path h="1165450" w="2534132">
                    <a:moveTo>
                      <a:pt x="14483" y="0"/>
                    </a:moveTo>
                    <a:lnTo>
                      <a:pt x="2519649" y="0"/>
                    </a:lnTo>
                    <a:cubicBezTo>
                      <a:pt x="2523490" y="0"/>
                      <a:pt x="2527174" y="1526"/>
                      <a:pt x="2529890" y="4242"/>
                    </a:cubicBezTo>
                    <a:cubicBezTo>
                      <a:pt x="2532606" y="6958"/>
                      <a:pt x="2534132" y="10642"/>
                      <a:pt x="2534132" y="14483"/>
                    </a:cubicBezTo>
                    <a:lnTo>
                      <a:pt x="2534132" y="1150967"/>
                    </a:lnTo>
                    <a:cubicBezTo>
                      <a:pt x="2534132" y="1158965"/>
                      <a:pt x="2527648" y="1165450"/>
                      <a:pt x="2519649" y="1165450"/>
                    </a:cubicBezTo>
                    <a:lnTo>
                      <a:pt x="14483" y="1165450"/>
                    </a:lnTo>
                    <a:cubicBezTo>
                      <a:pt x="10642" y="1165450"/>
                      <a:pt x="6958" y="1163924"/>
                      <a:pt x="4242" y="1161208"/>
                    </a:cubicBezTo>
                    <a:cubicBezTo>
                      <a:pt x="1526" y="1158492"/>
                      <a:pt x="0" y="1154808"/>
                      <a:pt x="0" y="1150967"/>
                    </a:cubicBezTo>
                    <a:lnTo>
                      <a:pt x="0" y="14483"/>
                    </a:lnTo>
                    <a:cubicBezTo>
                      <a:pt x="0" y="10642"/>
                      <a:pt x="1526" y="6958"/>
                      <a:pt x="4242" y="4242"/>
                    </a:cubicBezTo>
                    <a:cubicBezTo>
                      <a:pt x="6958" y="1526"/>
                      <a:pt x="10642" y="0"/>
                      <a:pt x="14483" y="0"/>
                    </a:cubicBez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534132" cy="120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4694871" y="490883"/>
              <a:ext cx="5367618" cy="3619476"/>
              <a:chOff x="0" y="0"/>
              <a:chExt cx="762948" cy="51446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2948" cy="514469"/>
              </a:xfrm>
              <a:custGeom>
                <a:avLst/>
                <a:gdLst/>
                <a:ahLst/>
                <a:cxnLst/>
                <a:rect r="r" b="b" t="t" l="l"/>
                <a:pathLst>
                  <a:path h="514469" w="762948">
                    <a:moveTo>
                      <a:pt x="25154" y="0"/>
                    </a:moveTo>
                    <a:lnTo>
                      <a:pt x="737794" y="0"/>
                    </a:lnTo>
                    <a:cubicBezTo>
                      <a:pt x="751686" y="0"/>
                      <a:pt x="762948" y="11262"/>
                      <a:pt x="762948" y="25154"/>
                    </a:cubicBezTo>
                    <a:lnTo>
                      <a:pt x="762948" y="489315"/>
                    </a:lnTo>
                    <a:cubicBezTo>
                      <a:pt x="762948" y="503207"/>
                      <a:pt x="751686" y="514469"/>
                      <a:pt x="737794" y="514469"/>
                    </a:cubicBezTo>
                    <a:lnTo>
                      <a:pt x="25154" y="514469"/>
                    </a:lnTo>
                    <a:cubicBezTo>
                      <a:pt x="11262" y="514469"/>
                      <a:pt x="0" y="503207"/>
                      <a:pt x="0" y="489315"/>
                    </a:cubicBezTo>
                    <a:lnTo>
                      <a:pt x="0" y="25154"/>
                    </a:lnTo>
                    <a:cubicBezTo>
                      <a:pt x="0" y="11262"/>
                      <a:pt x="11262" y="0"/>
                      <a:pt x="25154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42" t="0" r="-42" b="0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617111" y="567083"/>
              <a:ext cx="3745540" cy="1294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8"/>
                </a:lnSpc>
              </a:pPr>
              <a:r>
                <a:rPr lang="en-US" sz="3678" spc="-110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Real-Time Reporting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17111" y="2135064"/>
              <a:ext cx="3745540" cy="987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1"/>
                </a:lnSpc>
              </a:pPr>
              <a:r>
                <a:rPr lang="en-US" sz="1634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Instantly report incidents for immediate action and support.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30081" y="6747794"/>
            <a:ext cx="6710804" cy="3086305"/>
            <a:chOff x="0" y="0"/>
            <a:chExt cx="8947739" cy="411507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947739" cy="4115074"/>
              <a:chOff x="0" y="0"/>
              <a:chExt cx="2534132" cy="1165450"/>
            </a:xfrm>
          </p:grpSpPr>
          <p:sp>
            <p:nvSpPr>
              <p:cNvPr name="Freeform 31" id="3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2534132" cy="1165450"/>
              </a:xfrm>
              <a:custGeom>
                <a:avLst/>
                <a:gdLst/>
                <a:ahLst/>
                <a:cxnLst/>
                <a:rect r="r" b="b" t="t" l="l"/>
                <a:pathLst>
                  <a:path h="1165450" w="2534132">
                    <a:moveTo>
                      <a:pt x="14483" y="0"/>
                    </a:moveTo>
                    <a:lnTo>
                      <a:pt x="2519649" y="0"/>
                    </a:lnTo>
                    <a:cubicBezTo>
                      <a:pt x="2523490" y="0"/>
                      <a:pt x="2527174" y="1526"/>
                      <a:pt x="2529890" y="4242"/>
                    </a:cubicBezTo>
                    <a:cubicBezTo>
                      <a:pt x="2532606" y="6958"/>
                      <a:pt x="2534132" y="10642"/>
                      <a:pt x="2534132" y="14483"/>
                    </a:cubicBezTo>
                    <a:lnTo>
                      <a:pt x="2534132" y="1150967"/>
                    </a:lnTo>
                    <a:cubicBezTo>
                      <a:pt x="2534132" y="1158965"/>
                      <a:pt x="2527648" y="1165450"/>
                      <a:pt x="2519649" y="1165450"/>
                    </a:cubicBezTo>
                    <a:lnTo>
                      <a:pt x="14483" y="1165450"/>
                    </a:lnTo>
                    <a:cubicBezTo>
                      <a:pt x="10642" y="1165450"/>
                      <a:pt x="6958" y="1163924"/>
                      <a:pt x="4242" y="1161208"/>
                    </a:cubicBezTo>
                    <a:cubicBezTo>
                      <a:pt x="1526" y="1158492"/>
                      <a:pt x="0" y="1154808"/>
                      <a:pt x="0" y="1150967"/>
                    </a:cubicBezTo>
                    <a:lnTo>
                      <a:pt x="0" y="14483"/>
                    </a:lnTo>
                    <a:cubicBezTo>
                      <a:pt x="0" y="10642"/>
                      <a:pt x="1526" y="6958"/>
                      <a:pt x="4242" y="4242"/>
                    </a:cubicBezTo>
                    <a:cubicBezTo>
                      <a:pt x="6958" y="1526"/>
                      <a:pt x="10642" y="0"/>
                      <a:pt x="14483" y="0"/>
                    </a:cubicBez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534132" cy="120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05620" y="454041"/>
              <a:ext cx="4579601" cy="3088103"/>
              <a:chOff x="0" y="0"/>
              <a:chExt cx="762948" cy="5144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62948" cy="514469"/>
              </a:xfrm>
              <a:custGeom>
                <a:avLst/>
                <a:gdLst/>
                <a:ahLst/>
                <a:cxnLst/>
                <a:rect r="r" b="b" t="t" l="l"/>
                <a:pathLst>
                  <a:path h="514469" w="762948">
                    <a:moveTo>
                      <a:pt x="25154" y="0"/>
                    </a:moveTo>
                    <a:lnTo>
                      <a:pt x="737794" y="0"/>
                    </a:lnTo>
                    <a:cubicBezTo>
                      <a:pt x="751686" y="0"/>
                      <a:pt x="762948" y="11262"/>
                      <a:pt x="762948" y="25154"/>
                    </a:cubicBezTo>
                    <a:lnTo>
                      <a:pt x="762948" y="489315"/>
                    </a:lnTo>
                    <a:cubicBezTo>
                      <a:pt x="762948" y="503207"/>
                      <a:pt x="751686" y="514469"/>
                      <a:pt x="737794" y="514469"/>
                    </a:cubicBezTo>
                    <a:lnTo>
                      <a:pt x="25154" y="514469"/>
                    </a:lnTo>
                    <a:cubicBezTo>
                      <a:pt x="11262" y="514469"/>
                      <a:pt x="0" y="503207"/>
                      <a:pt x="0" y="489315"/>
                    </a:cubicBezTo>
                    <a:lnTo>
                      <a:pt x="0" y="25154"/>
                    </a:lnTo>
                    <a:cubicBezTo>
                      <a:pt x="0" y="11262"/>
                      <a:pt x="11262" y="0"/>
                      <a:pt x="25154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2" t="0" r="-42" b="0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526513" y="511191"/>
              <a:ext cx="3195659" cy="1112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38"/>
                </a:lnSpc>
              </a:pPr>
              <a:r>
                <a:rPr lang="en-US" sz="3138" spc="-94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Enhanced Coordination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26513" y="1848236"/>
              <a:ext cx="3195659" cy="113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3"/>
                </a:lnSpc>
              </a:pPr>
              <a:r>
                <a:rPr lang="en-US" sz="1394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Seamlessly connect responders for improved effectiveness and communication.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Technologies Used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740513"/>
            <a:ext cx="7442532" cy="1935264"/>
            <a:chOff x="0" y="0"/>
            <a:chExt cx="9923376" cy="258035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03731"/>
              <a:ext cx="9923376" cy="1576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7"/>
                </a:lnSpc>
              </a:pP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We employ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MongoDB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for data storage, allowing for flexible schema design and efficient querying for real-time reporting and updates.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14300"/>
              <a:ext cx="9923376" cy="677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3"/>
                </a:lnSpc>
                <a:spcBef>
                  <a:spcPct val="0"/>
                </a:spcBef>
              </a:pPr>
              <a:r>
                <a:rPr lang="en-US" sz="2809" spc="-8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Database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3837544"/>
            <a:ext cx="7442532" cy="1935264"/>
            <a:chOff x="0" y="0"/>
            <a:chExt cx="9923376" cy="258035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03731"/>
              <a:ext cx="9923376" cy="1576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7"/>
                </a:lnSpc>
              </a:pP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frontend is built using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HTML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CSS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and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JavaScript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ensuring a responsive and user-friendly interface for all users.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14300"/>
              <a:ext cx="9923376" cy="677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3"/>
                </a:lnSpc>
                <a:spcBef>
                  <a:spcPct val="0"/>
                </a:spcBef>
              </a:pPr>
              <a:r>
                <a:rPr lang="en-US" sz="2809" spc="-8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Frontend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93077" y="6740441"/>
            <a:ext cx="7442532" cy="1935264"/>
            <a:chOff x="0" y="0"/>
            <a:chExt cx="9923376" cy="25803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03731"/>
              <a:ext cx="9923376" cy="1576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7"/>
                </a:lnSpc>
              </a:pP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application is hosted on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Netlify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and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Render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ensuring reliable deployment with continuous integration and easy scalability for future growth.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14300"/>
              <a:ext cx="9923376" cy="677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3"/>
                </a:lnSpc>
                <a:spcBef>
                  <a:spcPct val="0"/>
                </a:spcBef>
              </a:pPr>
              <a:r>
                <a:rPr lang="en-US" sz="2809" spc="-8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Deployment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93077" y="3837616"/>
            <a:ext cx="7442532" cy="1935264"/>
            <a:chOff x="0" y="0"/>
            <a:chExt cx="9923376" cy="258035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003731"/>
              <a:ext cx="9923376" cy="1576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7"/>
                </a:lnSpc>
              </a:pP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Our backend utilizes </a:t>
              </a:r>
              <a:r>
                <a:rPr lang="en-US" b="true" sz="2269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Node.js</a:t>
              </a:r>
              <a:r>
                <a:rPr lang="en-US" sz="2269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for handling server requests, providing a robust framework for efficient processing and data management.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9923376" cy="677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3"/>
                </a:lnSpc>
                <a:spcBef>
                  <a:spcPct val="0"/>
                </a:spcBef>
              </a:pPr>
              <a:r>
                <a:rPr lang="en-US" sz="2809" spc="-8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Backend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8592">
            <a:off x="11540060" y="2043617"/>
            <a:ext cx="7218806" cy="9860257"/>
            <a:chOff x="0" y="0"/>
            <a:chExt cx="1176590" cy="1607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6590" cy="1607119"/>
            </a:xfrm>
            <a:custGeom>
              <a:avLst/>
              <a:gdLst/>
              <a:ahLst/>
              <a:cxnLst/>
              <a:rect r="r" b="b" t="t" l="l"/>
              <a:pathLst>
                <a:path h="1607119" w="1176590">
                  <a:moveTo>
                    <a:pt x="32174" y="0"/>
                  </a:moveTo>
                  <a:lnTo>
                    <a:pt x="1144416" y="0"/>
                  </a:lnTo>
                  <a:cubicBezTo>
                    <a:pt x="1162186" y="0"/>
                    <a:pt x="1176590" y="14405"/>
                    <a:pt x="1176590" y="32174"/>
                  </a:cubicBezTo>
                  <a:lnTo>
                    <a:pt x="1176590" y="1574946"/>
                  </a:lnTo>
                  <a:cubicBezTo>
                    <a:pt x="1176590" y="1592715"/>
                    <a:pt x="1162186" y="1607119"/>
                    <a:pt x="1144416" y="1607119"/>
                  </a:cubicBezTo>
                  <a:lnTo>
                    <a:pt x="32174" y="1607119"/>
                  </a:lnTo>
                  <a:cubicBezTo>
                    <a:pt x="23641" y="1607119"/>
                    <a:pt x="15457" y="1603730"/>
                    <a:pt x="9424" y="1597696"/>
                  </a:cubicBezTo>
                  <a:cubicBezTo>
                    <a:pt x="3390" y="1591662"/>
                    <a:pt x="0" y="1583479"/>
                    <a:pt x="0" y="1574946"/>
                  </a:cubicBezTo>
                  <a:lnTo>
                    <a:pt x="0" y="32174"/>
                  </a:lnTo>
                  <a:cubicBezTo>
                    <a:pt x="0" y="14405"/>
                    <a:pt x="14405" y="0"/>
                    <a:pt x="321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6132" y="5422593"/>
            <a:ext cx="4522498" cy="3515380"/>
            <a:chOff x="0" y="0"/>
            <a:chExt cx="6029998" cy="46871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091" y="754774"/>
              <a:ext cx="6000494" cy="3932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8055" indent="-239028" lvl="1">
                <a:lnSpc>
                  <a:spcPts val="2657"/>
                </a:lnSpc>
                <a:buFont typeface="Arial"/>
                <a:buChar char="•"/>
              </a:pPr>
              <a:r>
                <a:rPr lang="en-US" sz="2214">
                  <a:solidFill>
                    <a:srgbClr val="F0F0F0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MongoDB Atlas provides flexible schema design, allowing for efficient and real-time data querying and handling.</a:t>
              </a:r>
            </a:p>
            <a:p>
              <a:pPr algn="l" marL="478055" indent="-239028" lvl="1">
                <a:lnSpc>
                  <a:spcPts val="2657"/>
                </a:lnSpc>
                <a:buFont typeface="Arial"/>
                <a:buChar char="•"/>
              </a:pPr>
              <a:r>
                <a:rPr lang="en-US" sz="2214">
                  <a:solidFill>
                    <a:srgbClr val="F0F0F0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Supports scalability and reliability, making it ideal for dynamic incident reporting needs.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029998" cy="44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7"/>
                </a:lnSpc>
              </a:pPr>
              <a:r>
                <a:rPr lang="en-US" b="true" sz="2214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23958" y="5422593"/>
            <a:ext cx="5385834" cy="2629212"/>
            <a:chOff x="0" y="0"/>
            <a:chExt cx="7181113" cy="350561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5117" y="919728"/>
              <a:ext cx="7154350" cy="2585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9315" indent="-284657" lvl="1">
                <a:lnSpc>
                  <a:spcPts val="3164"/>
                </a:lnSpc>
                <a:buFont typeface="Arial"/>
                <a:buChar char="•"/>
              </a:pPr>
              <a:r>
                <a:rPr lang="en-US" sz="2636">
                  <a:solidFill>
                    <a:srgbClr val="F0F0F0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Utilizes HTML5, CSS3, JavaScript, and Leaflet.js to create an engaging, responsive, and user-friendly interface.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7181113" cy="50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4"/>
                </a:lnSpc>
              </a:pPr>
              <a:r>
                <a:rPr lang="en-US" b="true" sz="2636">
                  <a:solidFill>
                    <a:srgbClr val="F0F0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Frontend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6132" y="1972935"/>
            <a:ext cx="8763000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This section highlights the core technologies powering our platform’s functionalities and ensures seamless performance and scalability.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05000" y="520998"/>
            <a:ext cx="3111500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DATABASE; FRONTEND; BACKEND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5375" y="520998"/>
            <a:ext cx="3111500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" y="520998"/>
            <a:ext cx="31115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INCIDENT REPORTING &amp; RESPONSE PLATFORM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2533650"/>
            <a:chOff x="0" y="0"/>
            <a:chExt cx="9182100" cy="3378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E03C3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Roles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61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responsibilities of each role involved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3736" y="1028700"/>
            <a:ext cx="7930211" cy="2252926"/>
            <a:chOff x="0" y="0"/>
            <a:chExt cx="10573615" cy="30039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36616"/>
              <a:ext cx="10573615" cy="166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5"/>
                </a:lnSpc>
                <a:spcBef>
                  <a:spcPct val="0"/>
                </a:spcBef>
              </a:pPr>
              <a:r>
                <a:rPr lang="en-US" sz="241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Public User can report incidents, view alerts, and receive updates on emergencies in their area, ensuring community engagement.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10573615" cy="714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1"/>
                </a:lnSpc>
                <a:spcBef>
                  <a:spcPct val="0"/>
                </a:spcBef>
              </a:pPr>
              <a:r>
                <a:rPr lang="en-US" sz="2994" spc="-89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Public 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53736" y="4121811"/>
            <a:ext cx="7930211" cy="2252926"/>
            <a:chOff x="0" y="0"/>
            <a:chExt cx="10573615" cy="300390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336616"/>
              <a:ext cx="10573615" cy="166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5"/>
                </a:lnSpc>
                <a:spcBef>
                  <a:spcPct val="0"/>
                </a:spcBef>
              </a:pPr>
              <a:r>
                <a:rPr lang="en-US" sz="241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Admin manages user accounts, oversees incident reports, and ensures that data is verified and coordinated among responders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10573615" cy="714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1"/>
                </a:lnSpc>
                <a:spcBef>
                  <a:spcPct val="0"/>
                </a:spcBef>
              </a:pPr>
              <a:r>
                <a:rPr lang="en-US" sz="2994" spc="-89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Admin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53736" y="7219310"/>
            <a:ext cx="7930211" cy="2252926"/>
            <a:chOff x="0" y="0"/>
            <a:chExt cx="10573615" cy="300390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336616"/>
              <a:ext cx="10573615" cy="166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5"/>
                </a:lnSpc>
                <a:spcBef>
                  <a:spcPct val="0"/>
                </a:spcBef>
              </a:pPr>
              <a:r>
                <a:rPr lang="en-US" sz="2418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Agent acts as a liaison between the Public Users and Responders, facilitating communication and ensuring timely responses to reported incidents.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14300"/>
              <a:ext cx="10573615" cy="714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1"/>
                </a:lnSpc>
                <a:spcBef>
                  <a:spcPct val="0"/>
                </a:spcBef>
              </a:pPr>
              <a:r>
                <a:rPr lang="en-US" sz="2994" spc="-89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Agent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Public User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Public users can report incidents without logging in, view live incidents, and access maps.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506098"/>
            <a:chOff x="0" y="0"/>
            <a:chExt cx="8828958" cy="20081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Agent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Agents view their assigned incidents, assign responders, and mark incidents as completed when resolved.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506098"/>
            <a:chOff x="0" y="0"/>
            <a:chExt cx="8558790" cy="20081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Admin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Admins verify reports, assign agents, and monitor all incidents and overall system status.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506098"/>
            <a:chOff x="0" y="0"/>
            <a:chExt cx="8558790" cy="20081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Responder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Responders can view assigned incidents and take necessary actions to address reported issues.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CA3357"/>
                </a:solidFill>
                <a:latin typeface="DM Sans"/>
                <a:ea typeface="DM Sans"/>
                <a:cs typeface="DM Sans"/>
                <a:sym typeface="DM Sans"/>
              </a:rPr>
              <a:t>User Roles and Their Capabilities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71500" y="827807"/>
            <a:ext cx="15251369" cy="2191233"/>
            <a:chOff x="0" y="0"/>
            <a:chExt cx="20335158" cy="2921645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9525"/>
              <a:ext cx="20335158" cy="1637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51"/>
                </a:lnSpc>
                <a:spcBef>
                  <a:spcPct val="0"/>
                </a:spcBef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010420"/>
              <a:ext cx="20335158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44"/>
                </a:lnSpc>
                <a:spcBef>
                  <a:spcPct val="0"/>
                </a:spcBef>
              </a:pPr>
              <a:r>
                <a:rPr lang="en-US" sz="4120" spc="-123" strike="noStrike" u="none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responsibilities of each role involved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Verify Reports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Admins confirm incident authenticity before dispatching response teams for effective management.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810898"/>
            <a:chOff x="0" y="0"/>
            <a:chExt cx="8828958" cy="24145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Monitor Incidents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Admins oversee ongoing incidents, ensuring all are addressed promptly and efficiently throughout the process.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A25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506098"/>
            <a:chOff x="0" y="0"/>
            <a:chExt cx="8558790" cy="20081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Assign Agents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They allocate specific agents to incidents based on expertise and availability for better coordination.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506098"/>
            <a:chOff x="0" y="0"/>
            <a:chExt cx="8558790" cy="20081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System Status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They manage overall system performance, ensuring functionality and reliability in emergency scenarios.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Admin Role and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810898"/>
            <a:chOff x="0" y="0"/>
            <a:chExt cx="8828958" cy="24145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Assigned Incidents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Agents can view and manage assigned incidents, ensuring direct oversight of ongoing emergency responses.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506098"/>
            <a:chOff x="0" y="0"/>
            <a:chExt cx="8828958" cy="20081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Completion and Deletion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Once resolved, agents mark incidents as complete and delete them from the system to maintain clarity.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1749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810898"/>
            <a:chOff x="0" y="0"/>
            <a:chExt cx="8558790" cy="2414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Action on Incidents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Responders take immediate action on incidents, providing necessary assistance to effectively resolve emergencies.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810898"/>
            <a:chOff x="0" y="0"/>
            <a:chExt cx="8558790" cy="24145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User Notifications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The system automatically updates all users regarding incident status changes, ensuring seamless communication throughout the process.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Agent and Responder Roles Overview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52544" y="5161465"/>
            <a:ext cx="18998845" cy="0"/>
          </a:xfrm>
          <a:prstGeom prst="line">
            <a:avLst/>
          </a:prstGeom>
          <a:ln cap="flat" w="19050">
            <a:solidFill>
              <a:srgbClr val="3C8D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5675" y="4993031"/>
            <a:ext cx="336869" cy="33686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8DB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686907" y="4993031"/>
            <a:ext cx="336869" cy="33686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8DB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75193" y="5002939"/>
            <a:ext cx="336869" cy="33686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8DB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63478" y="5002939"/>
            <a:ext cx="336869" cy="336869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8DB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Functionality Walkthrough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5675" y="3333750"/>
            <a:ext cx="2992190" cy="10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4"/>
              </a:lnSpc>
              <a:spcBef>
                <a:spcPct val="0"/>
              </a:spcBef>
            </a:pPr>
            <a:r>
              <a:rPr lang="en-US" sz="3328" spc="-99" strike="noStrike" u="none">
                <a:solidFill>
                  <a:srgbClr val="D1D9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Incident Reporting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5675" y="5906473"/>
            <a:ext cx="2992190" cy="15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sz="2184" strike="noStrike" u="none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Users submit incident reports through an intuitive interface for immediate processing.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6907" y="3839054"/>
            <a:ext cx="2992190" cy="57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4"/>
              </a:lnSpc>
              <a:spcBef>
                <a:spcPct val="0"/>
              </a:spcBef>
            </a:pPr>
            <a:r>
              <a:rPr lang="en-US" sz="3328" spc="-99" strike="noStrike" u="none">
                <a:solidFill>
                  <a:srgbClr val="D1D9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Verification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6907" y="5906473"/>
            <a:ext cx="2992190" cy="231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sz="2184" strike="noStrike" u="none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The admin validates reports, ensuring accuracy before adressind a agent who then dispatches responders.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5193" y="3839054"/>
            <a:ext cx="2992190" cy="57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4"/>
              </a:lnSpc>
              <a:spcBef>
                <a:spcPct val="0"/>
              </a:spcBef>
            </a:pPr>
            <a:r>
              <a:rPr lang="en-US" sz="3328" spc="-99" strike="noStrike" u="none">
                <a:solidFill>
                  <a:srgbClr val="D1D9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Dispatch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3478" y="3839054"/>
            <a:ext cx="2992190" cy="57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4"/>
              </a:lnSpc>
              <a:spcBef>
                <a:spcPct val="0"/>
              </a:spcBef>
            </a:pPr>
            <a:r>
              <a:rPr lang="en-US" sz="3328" spc="-99" strike="noStrike" u="none">
                <a:solidFill>
                  <a:srgbClr val="D1D9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75193" y="5906473"/>
            <a:ext cx="2992190" cy="192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sz="2184" strike="noStrike" u="none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Verified incidents are assigned to appropriate responders for timely action.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63478" y="5906473"/>
            <a:ext cx="2992190" cy="153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sz="2184" strike="noStrike" u="none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Responders resolve incidents, updating the system with outcomes for future tracking.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066" y="2837059"/>
            <a:ext cx="2750146" cy="2885277"/>
            <a:chOff x="0" y="0"/>
            <a:chExt cx="3666862" cy="384703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227175"/>
              <a:ext cx="3666862" cy="261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3"/>
                </a:lnSpc>
              </a:pPr>
              <a:r>
                <a:rPr lang="en-US" b="true" sz="2245" spc="-5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Live updates</a:t>
              </a: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ensure real-time information sharing among responders and users.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2351669" cy="768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06"/>
                </a:lnSpc>
                <a:spcBef>
                  <a:spcPct val="0"/>
                </a:spcBef>
              </a:pPr>
              <a:r>
                <a:rPr lang="en-US" sz="3421" spc="-10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02200" y="2837059"/>
            <a:ext cx="2750146" cy="2488034"/>
            <a:chOff x="0" y="0"/>
            <a:chExt cx="3666862" cy="331737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27175"/>
              <a:ext cx="3666862" cy="2090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3"/>
                </a:lnSpc>
              </a:pP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245" spc="-5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interactive map</a:t>
              </a: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provides a visual interface for incident locations and details.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2351669" cy="768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06"/>
                </a:lnSpc>
                <a:spcBef>
                  <a:spcPct val="0"/>
                </a:spcBef>
              </a:pPr>
              <a:r>
                <a:rPr lang="en-US" sz="3421" spc="-10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6335" y="2837059"/>
            <a:ext cx="2750146" cy="2885277"/>
            <a:chOff x="0" y="0"/>
            <a:chExt cx="3666862" cy="384703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27175"/>
              <a:ext cx="3666862" cy="261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3"/>
                </a:lnSpc>
              </a:pPr>
              <a:r>
                <a:rPr lang="en-US" b="true" sz="2245" spc="-5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Report verification</a:t>
              </a: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enhances trust and accuracy in submitted incident reports.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2351669" cy="768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06"/>
                </a:lnSpc>
                <a:spcBef>
                  <a:spcPct val="0"/>
                </a:spcBef>
              </a:pPr>
              <a:r>
                <a:rPr lang="en-US" sz="3421" spc="-10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30469" y="2837059"/>
            <a:ext cx="2750146" cy="2488034"/>
            <a:chOff x="0" y="0"/>
            <a:chExt cx="3666862" cy="331737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27175"/>
              <a:ext cx="3666862" cy="2090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3"/>
                </a:lnSpc>
              </a:pP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A </a:t>
              </a:r>
              <a:r>
                <a:rPr lang="en-US" b="true" sz="2245" spc="-5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secure login</a:t>
              </a:r>
              <a:r>
                <a:rPr lang="en-US" sz="2245" spc="-5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system protects user data and maintains privacy standards.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2351669" cy="768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06"/>
                </a:lnSpc>
                <a:spcBef>
                  <a:spcPct val="0"/>
                </a:spcBef>
              </a:pPr>
              <a:r>
                <a:rPr lang="en-US" sz="3421" spc="-10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Features 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8066" y="1879601"/>
            <a:ext cx="875973" cy="476990"/>
            <a:chOff x="0" y="0"/>
            <a:chExt cx="1167963" cy="6359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1977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6" y="0"/>
                  </a:lnTo>
                  <a:lnTo>
                    <a:pt x="635986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7" y="0"/>
                  </a:lnTo>
                  <a:lnTo>
                    <a:pt x="635987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102200" y="1879601"/>
            <a:ext cx="875973" cy="476990"/>
            <a:chOff x="0" y="0"/>
            <a:chExt cx="1167963" cy="6359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1977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6" y="0"/>
                  </a:lnTo>
                  <a:lnTo>
                    <a:pt x="635986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7" y="0"/>
                  </a:lnTo>
                  <a:lnTo>
                    <a:pt x="635987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16335" y="1879601"/>
            <a:ext cx="875973" cy="476990"/>
            <a:chOff x="0" y="0"/>
            <a:chExt cx="1167963" cy="6359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1977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6" y="0"/>
                  </a:lnTo>
                  <a:lnTo>
                    <a:pt x="635986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7" y="0"/>
                  </a:lnTo>
                  <a:lnTo>
                    <a:pt x="635987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330469" y="1879601"/>
            <a:ext cx="875973" cy="476990"/>
            <a:chOff x="0" y="0"/>
            <a:chExt cx="1167963" cy="6359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31977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6" y="0"/>
                  </a:lnTo>
                  <a:lnTo>
                    <a:pt x="635986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987" cy="635987"/>
            </a:xfrm>
            <a:custGeom>
              <a:avLst/>
              <a:gdLst/>
              <a:ahLst/>
              <a:cxnLst/>
              <a:rect r="r" b="b" t="t" l="l"/>
              <a:pathLst>
                <a:path h="635987" w="635987">
                  <a:moveTo>
                    <a:pt x="0" y="0"/>
                  </a:moveTo>
                  <a:lnTo>
                    <a:pt x="635987" y="0"/>
                  </a:lnTo>
                  <a:lnTo>
                    <a:pt x="635987" y="635987"/>
                  </a:lnTo>
                  <a:lnTo>
                    <a:pt x="0" y="63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88066" y="6075774"/>
            <a:ext cx="4765054" cy="4211226"/>
            <a:chOff x="0" y="0"/>
            <a:chExt cx="6353406" cy="561496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1506904"/>
              <a:ext cx="6347316" cy="4108064"/>
              <a:chOff x="0" y="0"/>
              <a:chExt cx="1548701" cy="1002339"/>
            </a:xfrm>
          </p:grpSpPr>
          <p:sp>
            <p:nvSpPr>
              <p:cNvPr name="Freeform 29" id="2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1548701" cy="1002339"/>
              </a:xfrm>
              <a:custGeom>
                <a:avLst/>
                <a:gdLst/>
                <a:ahLst/>
                <a:cxnLst/>
                <a:rect r="r" b="b" t="t" l="l"/>
                <a:pathLst>
                  <a:path h="1002339" w="1548701">
                    <a:moveTo>
                      <a:pt x="25225" y="0"/>
                    </a:moveTo>
                    <a:lnTo>
                      <a:pt x="1523477" y="0"/>
                    </a:lnTo>
                    <a:cubicBezTo>
                      <a:pt x="1537408" y="0"/>
                      <a:pt x="1548701" y="11294"/>
                      <a:pt x="1548701" y="25225"/>
                    </a:cubicBezTo>
                    <a:lnTo>
                      <a:pt x="1548701" y="977115"/>
                    </a:lnTo>
                    <a:cubicBezTo>
                      <a:pt x="1548701" y="991046"/>
                      <a:pt x="1537408" y="1002339"/>
                      <a:pt x="1523477" y="1002339"/>
                    </a:cubicBezTo>
                    <a:lnTo>
                      <a:pt x="25225" y="1002339"/>
                    </a:lnTo>
                    <a:cubicBezTo>
                      <a:pt x="11294" y="1002339"/>
                      <a:pt x="0" y="991046"/>
                      <a:pt x="0" y="977115"/>
                    </a:cubicBezTo>
                    <a:lnTo>
                      <a:pt x="0" y="25225"/>
                    </a:lnTo>
                    <a:cubicBezTo>
                      <a:pt x="0" y="11294"/>
                      <a:pt x="11294" y="0"/>
                      <a:pt x="25225" y="0"/>
                    </a:cubicBezTo>
                    <a:close/>
                  </a:path>
                </a:pathLst>
              </a:custGeom>
              <a:solidFill>
                <a:srgbClr val="1A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548701" cy="1002339"/>
              </a:xfrm>
              <a:prstGeom prst="rect">
                <a:avLst/>
              </a:prstGeom>
            </p:spPr>
            <p:txBody>
              <a:bodyPr anchor="ctr" rtlCol="false" tIns="33778" lIns="33778" bIns="33778" rIns="33778"/>
              <a:lstStyle/>
              <a:p>
                <a:pPr algn="ctr" marL="0" indent="0" lvl="0">
                  <a:lnSpc>
                    <a:spcPts val="16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758" y="0"/>
              <a:ext cx="6347347" cy="4337492"/>
              <a:chOff x="0" y="0"/>
              <a:chExt cx="1189426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8942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89426">
                    <a:moveTo>
                      <a:pt x="25225" y="0"/>
                    </a:moveTo>
                    <a:lnTo>
                      <a:pt x="1164201" y="0"/>
                    </a:lnTo>
                    <a:cubicBezTo>
                      <a:pt x="1170891" y="0"/>
                      <a:pt x="1177307" y="2658"/>
                      <a:pt x="1182037" y="7388"/>
                    </a:cubicBezTo>
                    <a:cubicBezTo>
                      <a:pt x="1186768" y="12119"/>
                      <a:pt x="1189426" y="18535"/>
                      <a:pt x="1189426" y="25225"/>
                    </a:cubicBezTo>
                    <a:lnTo>
                      <a:pt x="1189426" y="787575"/>
                    </a:lnTo>
                    <a:cubicBezTo>
                      <a:pt x="1189426" y="801507"/>
                      <a:pt x="1178132" y="812800"/>
                      <a:pt x="1164201" y="812800"/>
                    </a:cubicBezTo>
                    <a:lnTo>
                      <a:pt x="25225" y="812800"/>
                    </a:lnTo>
                    <a:cubicBezTo>
                      <a:pt x="11293" y="812800"/>
                      <a:pt x="0" y="801507"/>
                      <a:pt x="0" y="787575"/>
                    </a:cubicBezTo>
                    <a:lnTo>
                      <a:pt x="0" y="25225"/>
                    </a:lnTo>
                    <a:cubicBezTo>
                      <a:pt x="0" y="11293"/>
                      <a:pt x="11293" y="0"/>
                      <a:pt x="25225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6" t="0" r="-246" b="0"/>
                </a:stretch>
              </a:blip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790" y="3958350"/>
              <a:ext cx="6344526" cy="379142"/>
              <a:chOff x="0" y="0"/>
              <a:chExt cx="1454373" cy="8691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54373" cy="86912"/>
              </a:xfrm>
              <a:custGeom>
                <a:avLst/>
                <a:gdLst/>
                <a:ahLst/>
                <a:cxnLst/>
                <a:rect r="r" b="b" t="t" l="l"/>
                <a:pathLst>
                  <a:path h="86912" w="1454373">
                    <a:moveTo>
                      <a:pt x="0" y="0"/>
                    </a:moveTo>
                    <a:lnTo>
                      <a:pt x="1454373" y="0"/>
                    </a:lnTo>
                    <a:lnTo>
                      <a:pt x="1454373" y="86912"/>
                    </a:lnTo>
                    <a:lnTo>
                      <a:pt x="0" y="86912"/>
                    </a:ln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454373" cy="125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790" y="4025025"/>
              <a:ext cx="6350616" cy="1138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4"/>
                </a:lnSpc>
              </a:pPr>
              <a:r>
                <a:rPr lang="en-US" sz="3274" spc="-98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Real-Time Updates for Emergency Management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978173" y="6198586"/>
            <a:ext cx="5195382" cy="4088414"/>
            <a:chOff x="0" y="0"/>
            <a:chExt cx="6927176" cy="545121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3077" y="1644559"/>
              <a:ext cx="6924099" cy="3806659"/>
              <a:chOff x="0" y="0"/>
              <a:chExt cx="1548021" cy="851055"/>
            </a:xfrm>
          </p:grpSpPr>
          <p:sp>
            <p:nvSpPr>
              <p:cNvPr name="Freeform 39" id="3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1548021" cy="851055"/>
              </a:xfrm>
              <a:custGeom>
                <a:avLst/>
                <a:gdLst/>
                <a:ahLst/>
                <a:cxnLst/>
                <a:rect r="r" b="b" t="t" l="l"/>
                <a:pathLst>
                  <a:path h="851055" w="1548021">
                    <a:moveTo>
                      <a:pt x="25236" y="0"/>
                    </a:moveTo>
                    <a:lnTo>
                      <a:pt x="1522785" y="0"/>
                    </a:lnTo>
                    <a:cubicBezTo>
                      <a:pt x="1529478" y="0"/>
                      <a:pt x="1535897" y="2659"/>
                      <a:pt x="1540630" y="7391"/>
                    </a:cubicBezTo>
                    <a:cubicBezTo>
                      <a:pt x="1545362" y="12124"/>
                      <a:pt x="1548021" y="18543"/>
                      <a:pt x="1548021" y="25236"/>
                    </a:cubicBezTo>
                    <a:lnTo>
                      <a:pt x="1548021" y="825819"/>
                    </a:lnTo>
                    <a:cubicBezTo>
                      <a:pt x="1548021" y="839756"/>
                      <a:pt x="1536723" y="851055"/>
                      <a:pt x="1522785" y="851055"/>
                    </a:cubicBezTo>
                    <a:lnTo>
                      <a:pt x="25236" y="851055"/>
                    </a:lnTo>
                    <a:cubicBezTo>
                      <a:pt x="11299" y="851055"/>
                      <a:pt x="0" y="839756"/>
                      <a:pt x="0" y="825819"/>
                    </a:cubicBezTo>
                    <a:lnTo>
                      <a:pt x="0" y="25236"/>
                    </a:lnTo>
                    <a:cubicBezTo>
                      <a:pt x="0" y="11299"/>
                      <a:pt x="11299" y="0"/>
                      <a:pt x="25236" y="0"/>
                    </a:cubicBezTo>
                    <a:close/>
                  </a:path>
                </a:pathLst>
              </a:custGeom>
              <a:solidFill>
                <a:srgbClr val="1A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1548021" cy="851055"/>
              </a:xfrm>
              <a:prstGeom prst="rect">
                <a:avLst/>
              </a:prstGeom>
            </p:spPr>
            <p:txBody>
              <a:bodyPr anchor="ctr" rtlCol="false" tIns="33778" lIns="33778" bIns="33778" rIns="33778"/>
              <a:lstStyle/>
              <a:p>
                <a:pPr algn="ctr" marL="0" indent="0" lvl="0">
                  <a:lnSpc>
                    <a:spcPts val="16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6927176" cy="4733721"/>
              <a:chOff x="0" y="0"/>
              <a:chExt cx="1189426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18942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89426">
                    <a:moveTo>
                      <a:pt x="25225" y="0"/>
                    </a:moveTo>
                    <a:lnTo>
                      <a:pt x="1164201" y="0"/>
                    </a:lnTo>
                    <a:cubicBezTo>
                      <a:pt x="1170891" y="0"/>
                      <a:pt x="1177307" y="2658"/>
                      <a:pt x="1182037" y="7388"/>
                    </a:cubicBezTo>
                    <a:cubicBezTo>
                      <a:pt x="1186768" y="12119"/>
                      <a:pt x="1189426" y="18535"/>
                      <a:pt x="1189426" y="25225"/>
                    </a:cubicBezTo>
                    <a:lnTo>
                      <a:pt x="1189426" y="787575"/>
                    </a:lnTo>
                    <a:cubicBezTo>
                      <a:pt x="1189426" y="801507"/>
                      <a:pt x="1178132" y="812800"/>
                      <a:pt x="1164201" y="812800"/>
                    </a:cubicBezTo>
                    <a:lnTo>
                      <a:pt x="25225" y="812800"/>
                    </a:lnTo>
                    <a:cubicBezTo>
                      <a:pt x="11293" y="812800"/>
                      <a:pt x="0" y="801507"/>
                      <a:pt x="0" y="787575"/>
                    </a:cubicBezTo>
                    <a:lnTo>
                      <a:pt x="0" y="25225"/>
                    </a:lnTo>
                    <a:cubicBezTo>
                      <a:pt x="0" y="11293"/>
                      <a:pt x="11293" y="0"/>
                      <a:pt x="25225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246" t="0" r="-246" b="0"/>
                </a:stretch>
              </a:blip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5" y="4319945"/>
              <a:ext cx="6924097" cy="413776"/>
              <a:chOff x="0" y="0"/>
              <a:chExt cx="1454373" cy="8691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454373" cy="86912"/>
              </a:xfrm>
              <a:custGeom>
                <a:avLst/>
                <a:gdLst/>
                <a:ahLst/>
                <a:cxnLst/>
                <a:rect r="r" b="b" t="t" l="l"/>
                <a:pathLst>
                  <a:path h="86912" w="1454373">
                    <a:moveTo>
                      <a:pt x="0" y="0"/>
                    </a:moveTo>
                    <a:lnTo>
                      <a:pt x="1454373" y="0"/>
                    </a:lnTo>
                    <a:lnTo>
                      <a:pt x="1454373" y="86912"/>
                    </a:lnTo>
                    <a:lnTo>
                      <a:pt x="0" y="86912"/>
                    </a:ln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454373" cy="125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56271" y="4377095"/>
              <a:ext cx="6217711" cy="1074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5"/>
                </a:lnSpc>
                <a:spcBef>
                  <a:spcPct val="0"/>
                </a:spcBef>
              </a:pPr>
              <a:r>
                <a:rPr lang="en-US" sz="3075" spc="-92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Live Map Visualization Enhancing User Awareness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73500" y="6279570"/>
            <a:ext cx="4807116" cy="3926445"/>
            <a:chOff x="0" y="0"/>
            <a:chExt cx="6409488" cy="523526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1521657"/>
              <a:ext cx="6409405" cy="3713603"/>
              <a:chOff x="0" y="0"/>
              <a:chExt cx="1548689" cy="897309"/>
            </a:xfrm>
          </p:grpSpPr>
          <p:sp>
            <p:nvSpPr>
              <p:cNvPr name="Freeform 49" id="4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false" flipV="false" rot="0">
                <a:off x="0" y="0"/>
                <a:ext cx="1548689" cy="897309"/>
              </a:xfrm>
              <a:custGeom>
                <a:avLst/>
                <a:gdLst/>
                <a:ahLst/>
                <a:cxnLst/>
                <a:rect r="r" b="b" t="t" l="l"/>
                <a:pathLst>
                  <a:path h="897309" w="1548689">
                    <a:moveTo>
                      <a:pt x="25225" y="0"/>
                    </a:moveTo>
                    <a:lnTo>
                      <a:pt x="1523464" y="0"/>
                    </a:lnTo>
                    <a:cubicBezTo>
                      <a:pt x="1537395" y="0"/>
                      <a:pt x="1548689" y="11294"/>
                      <a:pt x="1548689" y="25225"/>
                    </a:cubicBezTo>
                    <a:lnTo>
                      <a:pt x="1548689" y="872084"/>
                    </a:lnTo>
                    <a:cubicBezTo>
                      <a:pt x="1548689" y="886015"/>
                      <a:pt x="1537395" y="897309"/>
                      <a:pt x="1523464" y="897309"/>
                    </a:cubicBezTo>
                    <a:lnTo>
                      <a:pt x="25225" y="897309"/>
                    </a:lnTo>
                    <a:cubicBezTo>
                      <a:pt x="11294" y="897309"/>
                      <a:pt x="0" y="886015"/>
                      <a:pt x="0" y="872084"/>
                    </a:cubicBezTo>
                    <a:lnTo>
                      <a:pt x="0" y="25225"/>
                    </a:lnTo>
                    <a:cubicBezTo>
                      <a:pt x="0" y="11294"/>
                      <a:pt x="11294" y="0"/>
                      <a:pt x="25225" y="0"/>
                    </a:cubicBezTo>
                    <a:close/>
                  </a:path>
                </a:pathLst>
              </a:custGeom>
              <a:solidFill>
                <a:srgbClr val="1A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548689" cy="897309"/>
              </a:xfrm>
              <a:prstGeom prst="rect">
                <a:avLst/>
              </a:prstGeom>
            </p:spPr>
            <p:txBody>
              <a:bodyPr anchor="ctr" rtlCol="false" tIns="33778" lIns="33778" bIns="33778" rIns="33778"/>
              <a:lstStyle/>
              <a:p>
                <a:pPr algn="ctr" marL="0" indent="0" lvl="0">
                  <a:lnSpc>
                    <a:spcPts val="16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0"/>
              <a:ext cx="6409488" cy="4379956"/>
              <a:chOff x="0" y="0"/>
              <a:chExt cx="1189426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18942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89426">
                    <a:moveTo>
                      <a:pt x="25225" y="0"/>
                    </a:moveTo>
                    <a:lnTo>
                      <a:pt x="1164201" y="0"/>
                    </a:lnTo>
                    <a:cubicBezTo>
                      <a:pt x="1170891" y="0"/>
                      <a:pt x="1177307" y="2658"/>
                      <a:pt x="1182037" y="7388"/>
                    </a:cubicBezTo>
                    <a:cubicBezTo>
                      <a:pt x="1186768" y="12119"/>
                      <a:pt x="1189426" y="18535"/>
                      <a:pt x="1189426" y="25225"/>
                    </a:cubicBezTo>
                    <a:lnTo>
                      <a:pt x="1189426" y="787575"/>
                    </a:lnTo>
                    <a:cubicBezTo>
                      <a:pt x="1189426" y="801507"/>
                      <a:pt x="1178132" y="812800"/>
                      <a:pt x="1164201" y="812800"/>
                    </a:cubicBezTo>
                    <a:lnTo>
                      <a:pt x="25225" y="812800"/>
                    </a:lnTo>
                    <a:cubicBezTo>
                      <a:pt x="11293" y="812800"/>
                      <a:pt x="0" y="801507"/>
                      <a:pt x="0" y="787575"/>
                    </a:cubicBezTo>
                    <a:lnTo>
                      <a:pt x="0" y="25225"/>
                    </a:lnTo>
                    <a:cubicBezTo>
                      <a:pt x="0" y="11293"/>
                      <a:pt x="11293" y="0"/>
                      <a:pt x="25225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246" t="0" r="-246" b="0"/>
                </a:stretch>
              </a:blip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32" y="3997103"/>
              <a:ext cx="6406640" cy="382854"/>
              <a:chOff x="0" y="0"/>
              <a:chExt cx="1454373" cy="8691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454373" cy="86912"/>
              </a:xfrm>
              <a:custGeom>
                <a:avLst/>
                <a:gdLst/>
                <a:ahLst/>
                <a:cxnLst/>
                <a:rect r="r" b="b" t="t" l="l"/>
                <a:pathLst>
                  <a:path h="86912" w="1454373">
                    <a:moveTo>
                      <a:pt x="0" y="0"/>
                    </a:moveTo>
                    <a:lnTo>
                      <a:pt x="1454373" y="0"/>
                    </a:lnTo>
                    <a:lnTo>
                      <a:pt x="1454373" y="86912"/>
                    </a:lnTo>
                    <a:lnTo>
                      <a:pt x="0" y="86912"/>
                    </a:lnTo>
                    <a:close/>
                  </a:path>
                </a:pathLst>
              </a:custGeom>
              <a:solidFill>
                <a:srgbClr val="1A1A2E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454373" cy="125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328222" y="4054253"/>
              <a:ext cx="5753044" cy="989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5"/>
                </a:lnSpc>
                <a:spcBef>
                  <a:spcPct val="0"/>
                </a:spcBef>
              </a:pPr>
              <a:r>
                <a:rPr lang="en-US" sz="2845" spc="-85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Role-Based Access Control for Secure Operations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557102" cy="7549230"/>
            <a:chOff x="0" y="0"/>
            <a:chExt cx="12742803" cy="100656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2742803" cy="495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84"/>
                </a:lnSpc>
                <a:spcBef>
                  <a:spcPct val="0"/>
                </a:spcBef>
              </a:pPr>
              <a:r>
                <a:rPr lang="en-US" sz="9184" spc="-275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Scalability in Emergency Management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230572"/>
              <a:ext cx="12742803" cy="819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08"/>
                </a:lnSpc>
                <a:spcBef>
                  <a:spcPct val="0"/>
                </a:spcBef>
              </a:pPr>
              <a:r>
                <a:rPr lang="en-US" sz="3673" spc="-110" strike="noStrike" u="none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Expanding Reach Through Cloud Solutions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266114"/>
              <a:ext cx="10541243" cy="2799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sz="2410" strike="noStrike" u="none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Our platform is designed for </a:t>
              </a:r>
              <a:r>
                <a:rPr lang="en-US" b="true" sz="2410" strike="noStrike" u="none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multi-location deployment</a:t>
              </a:r>
              <a:r>
                <a:rPr lang="en-US" sz="2410" strike="noStrike" u="none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enabling </a:t>
              </a:r>
              <a:r>
                <a:rPr lang="en-US" b="true" sz="2410" strike="noStrike" u="none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real-time emergency response</a:t>
              </a:r>
              <a:r>
                <a:rPr lang="en-US" sz="2410" strike="noStrike" u="none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across various regions. With cloud-based technology, we ensure seamless scalability and adaptability to meet diverse community needs.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E03C3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Real-World Challenges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Navigating obstacles in emergency response 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562100"/>
            <a:ext cx="7380709" cy="2096816"/>
            <a:chOff x="0" y="0"/>
            <a:chExt cx="9840946" cy="27957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1834"/>
              <a:ext cx="9840946" cy="1563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The potential for </a:t>
              </a:r>
              <a:r>
                <a:rPr lang="en-US" b="true" sz="2250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fake reports</a:t>
              </a: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can significantly hinder effective emergency response efforts, causing unnecessary panic and resource misallocation.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9840946" cy="67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1"/>
                </a:lnSpc>
                <a:spcBef>
                  <a:spcPct val="0"/>
                </a:spcBef>
              </a:pPr>
              <a:r>
                <a:rPr lang="en-US" sz="2786" spc="-83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Fake Reports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4440883"/>
            <a:ext cx="7380709" cy="2096816"/>
            <a:chOff x="0" y="0"/>
            <a:chExt cx="9840946" cy="27957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31834"/>
              <a:ext cx="9840946" cy="1563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High traffic loads during emergencies can lead to </a:t>
              </a:r>
              <a:r>
                <a:rPr lang="en-US" b="true" sz="2250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system overloads</a:t>
              </a: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, impacting the platform's performance and limiting access to critical information.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9840946" cy="67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1"/>
                </a:lnSpc>
                <a:spcBef>
                  <a:spcPct val="0"/>
                </a:spcBef>
              </a:pPr>
              <a:r>
                <a:rPr lang="en-US" sz="2786" spc="-83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High Traffic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7323749"/>
            <a:ext cx="7380709" cy="2096816"/>
            <a:chOff x="0" y="0"/>
            <a:chExt cx="9840946" cy="27957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31834"/>
              <a:ext cx="9840946" cy="1563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Unreliable internet connectivity can severely disrupt communication among responders, leading to </a:t>
              </a:r>
              <a:r>
                <a:rPr lang="en-US" b="true" sz="2250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delayed actions</a:t>
              </a:r>
              <a:r>
                <a:rPr lang="en-US" sz="2250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and decreased overall response effectiveness.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14300"/>
              <a:ext cx="9840946" cy="67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1"/>
                </a:lnSpc>
                <a:spcBef>
                  <a:spcPct val="0"/>
                </a:spcBef>
              </a:pPr>
              <a:r>
                <a:rPr lang="en-US" sz="2786" spc="-83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Connectivity Issues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869491"/>
            <a:ext cx="4357378" cy="2124524"/>
            <a:chOff x="0" y="0"/>
            <a:chExt cx="5809837" cy="283269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247743"/>
              <a:ext cx="5809837" cy="1584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4"/>
                </a:lnSpc>
              </a:pPr>
              <a:r>
                <a:rPr lang="en-US" sz="2281" spc="-57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AI integration will streamline reporting and improve response accuracy.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3726024" cy="770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72"/>
                </a:lnSpc>
                <a:spcBef>
                  <a:spcPct val="0"/>
                </a:spcBef>
              </a:pPr>
              <a:r>
                <a:rPr lang="en-US" sz="3477" spc="-10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18190" y="5869491"/>
            <a:ext cx="4357378" cy="1720871"/>
            <a:chOff x="0" y="0"/>
            <a:chExt cx="5809837" cy="22944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47743"/>
              <a:ext cx="5809837" cy="1046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4"/>
                </a:lnSpc>
              </a:pPr>
              <a:r>
                <a:rPr lang="en-US" sz="2281" spc="-57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A mobile app will enhance accessibility for all users.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3726024" cy="770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72"/>
                </a:lnSpc>
                <a:spcBef>
                  <a:spcPct val="0"/>
                </a:spcBef>
              </a:pPr>
              <a:r>
                <a:rPr lang="en-US" sz="3477" spc="-10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69630" y="5869491"/>
            <a:ext cx="4357378" cy="2124524"/>
            <a:chOff x="0" y="0"/>
            <a:chExt cx="5809837" cy="283269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47743"/>
              <a:ext cx="5809837" cy="1584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4"/>
                </a:lnSpc>
              </a:pPr>
              <a:r>
                <a:rPr lang="en-US" sz="2281" spc="-57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GPS enhancements will facilitate precise location tracking during incidents.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3726024" cy="770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172"/>
                </a:lnSpc>
                <a:spcBef>
                  <a:spcPct val="0"/>
                </a:spcBef>
              </a:pPr>
              <a:r>
                <a:rPr lang="en-US" sz="3477" spc="-104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Enhancements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4896585"/>
            <a:ext cx="890106" cy="484686"/>
            <a:chOff x="0" y="0"/>
            <a:chExt cx="1186808" cy="6462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4056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18190" y="4896585"/>
            <a:ext cx="890106" cy="484686"/>
            <a:chOff x="0" y="0"/>
            <a:chExt cx="1186808" cy="646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4056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9630" y="4896585"/>
            <a:ext cx="890106" cy="484686"/>
            <a:chOff x="0" y="0"/>
            <a:chExt cx="1186808" cy="6462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4056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6248" cy="646248"/>
            </a:xfrm>
            <a:custGeom>
              <a:avLst/>
              <a:gdLst/>
              <a:ahLst/>
              <a:cxnLst/>
              <a:rect r="r" b="b" t="t" l="l"/>
              <a:pathLst>
                <a:path h="646248" w="646248">
                  <a:moveTo>
                    <a:pt x="0" y="0"/>
                  </a:moveTo>
                  <a:lnTo>
                    <a:pt x="646248" y="0"/>
                  </a:lnTo>
                  <a:lnTo>
                    <a:pt x="646248" y="646248"/>
                  </a:lnTo>
                  <a:lnTo>
                    <a:pt x="0" y="64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E03C3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Highlights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C8DB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features that make our platform exceptional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99099" y="1562100"/>
            <a:ext cx="8018896" cy="2072132"/>
            <a:chOff x="0" y="0"/>
            <a:chExt cx="10691861" cy="276284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80203"/>
              <a:ext cx="10691861" cy="148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33"/>
                </a:lnSpc>
                <a:spcBef>
                  <a:spcPct val="0"/>
                </a:spcBef>
              </a:pP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Our platform enables </a:t>
              </a:r>
              <a:r>
                <a:rPr lang="en-US" b="true" sz="216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instantaneous updates</a:t>
              </a: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and notifications, ensuring that all users receive critical information without delay for efficient emergency management.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10691861" cy="65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5"/>
                </a:lnSpc>
                <a:spcBef>
                  <a:spcPct val="0"/>
                </a:spcBef>
              </a:pPr>
              <a:r>
                <a:rPr lang="en-US" sz="2682" spc="-80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Real-Time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9099" y="4689802"/>
            <a:ext cx="8018896" cy="2072132"/>
            <a:chOff x="0" y="0"/>
            <a:chExt cx="10691861" cy="27628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80203"/>
              <a:ext cx="10691861" cy="148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33"/>
                </a:lnSpc>
                <a:spcBef>
                  <a:spcPct val="0"/>
                </a:spcBef>
              </a:pP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Users enjoy tailored experiences based on their roles, allowing for </a:t>
              </a:r>
              <a:r>
                <a:rPr lang="en-US" b="true" sz="216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enhanced security</a:t>
              </a: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and efficiency in managing sensitive emergency response data.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10691861" cy="65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5"/>
                </a:lnSpc>
                <a:spcBef>
                  <a:spcPct val="0"/>
                </a:spcBef>
              </a:pPr>
              <a:r>
                <a:rPr lang="en-US" sz="2682" spc="-80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Role-Based Access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99099" y="7821941"/>
            <a:ext cx="8018896" cy="2072132"/>
            <a:chOff x="0" y="0"/>
            <a:chExt cx="10691861" cy="276284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80203"/>
              <a:ext cx="10691861" cy="148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33"/>
                </a:lnSpc>
                <a:spcBef>
                  <a:spcPct val="0"/>
                </a:spcBef>
              </a:pP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With our platform, agencies can deploy resources </a:t>
              </a:r>
              <a:r>
                <a:rPr lang="en-US" b="true" sz="2166">
                  <a:solidFill>
                    <a:srgbClr val="D1D9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immediately</a:t>
              </a:r>
              <a:r>
                <a:rPr lang="en-US" sz="2166">
                  <a:solidFill>
                    <a:srgbClr val="D1D9E6"/>
                  </a:solidFill>
                  <a:latin typeface="TT Fors"/>
                  <a:ea typeface="TT Fors"/>
                  <a:cs typeface="TT Fors"/>
                  <a:sym typeface="TT Fors"/>
                </a:rPr>
                <a:t> to the field, improving response times and overall effectiveness during incidents.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14300"/>
              <a:ext cx="10691861" cy="65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5"/>
                </a:lnSpc>
                <a:spcBef>
                  <a:spcPct val="0"/>
                </a:spcBef>
              </a:pPr>
              <a:r>
                <a:rPr lang="en-US" sz="2682" spc="-80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Live Deployment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E0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02670" y="1504950"/>
            <a:ext cx="10056869" cy="81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b="true" sz="3066">
                <a:solidFill>
                  <a:srgbClr val="D1D9E6"/>
                </a:solidFill>
                <a:latin typeface="TT Fors Bold"/>
                <a:ea typeface="TT Fors Bold"/>
                <a:cs typeface="TT Fors Bold"/>
                <a:sym typeface="TT Fors Bold"/>
              </a:rPr>
              <a:t>Incident Reporting &amp; Response Platform</a:t>
            </a: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 is designed to enhance public safety through real-time emergency management.</a:t>
            </a:r>
          </a:p>
          <a:p>
            <a:pPr algn="l" marL="0" indent="0" lvl="0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Key benefits include:</a:t>
            </a:r>
          </a:p>
          <a:p>
            <a:pPr algn="l" marL="662112" indent="-331056" lvl="1">
              <a:lnSpc>
                <a:spcPts val="4293"/>
              </a:lnSpc>
              <a:spcBef>
                <a:spcPct val="0"/>
              </a:spcBef>
              <a:buFont typeface="Arial"/>
              <a:buChar char="•"/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Faster incident reporting and response times</a:t>
            </a:r>
          </a:p>
          <a:p>
            <a:pPr algn="l" marL="662112" indent="-331056" lvl="1">
              <a:lnSpc>
                <a:spcPts val="4293"/>
              </a:lnSpc>
              <a:spcBef>
                <a:spcPct val="0"/>
              </a:spcBef>
              <a:buFont typeface="Arial"/>
              <a:buChar char="•"/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Enhanced verification processes to reduce false alarms</a:t>
            </a:r>
          </a:p>
          <a:p>
            <a:pPr algn="l" marL="662112" indent="-331056" lvl="1">
              <a:lnSpc>
                <a:spcPts val="4293"/>
              </a:lnSpc>
              <a:spcBef>
                <a:spcPct val="0"/>
              </a:spcBef>
              <a:buFont typeface="Arial"/>
              <a:buChar char="•"/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Improved coordination among responders, ensuring efficient resource allocation</a:t>
            </a:r>
          </a:p>
          <a:p>
            <a:pPr algn="l" marL="0" indent="0" lvl="0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By leveraging advanced technology, this platform provides a </a:t>
            </a:r>
            <a:r>
              <a:rPr lang="en-US" b="true" sz="3066">
                <a:solidFill>
                  <a:srgbClr val="D1D9E6"/>
                </a:solidFill>
                <a:latin typeface="TT Fors Bold"/>
                <a:ea typeface="TT Fors Bold"/>
                <a:cs typeface="TT Fors Bold"/>
                <a:sym typeface="TT Fors Bold"/>
              </a:rPr>
              <a:t>robust solution</a:t>
            </a: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 that empowers communities. Our goal is to create a safer environment for everyone, fostering trust and reliability in emergency services, ultimately leading to </a:t>
            </a:r>
            <a:r>
              <a:rPr lang="en-US" b="true" sz="3066">
                <a:solidFill>
                  <a:srgbClr val="D1D9E6"/>
                </a:solidFill>
                <a:latin typeface="TT Fors Bold"/>
                <a:ea typeface="TT Fors Bold"/>
                <a:cs typeface="TT Fors Bold"/>
                <a:sym typeface="TT Fors Bold"/>
              </a:rPr>
              <a:t>more effective responses</a:t>
            </a:r>
            <a:r>
              <a:rPr lang="en-US" sz="3066">
                <a:solidFill>
                  <a:srgbClr val="D1D9E6"/>
                </a:solidFill>
                <a:latin typeface="TT Fors"/>
                <a:ea typeface="TT Fors"/>
                <a:cs typeface="TT Fors"/>
                <a:sym typeface="TT Fors"/>
              </a:rPr>
              <a:t> during crises.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28559" cy="3384304"/>
            <a:chOff x="0" y="0"/>
            <a:chExt cx="12971411" cy="45124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49475"/>
              <a:ext cx="12971411" cy="2362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sz="3750" spc="-11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Live Demo Available: See Readme </a:t>
              </a:r>
              <a:r>
                <a:rPr lang="en-US" sz="3750" spc="-11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</a:p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sz="3750" spc="-112" strike="noStrike" u="none">
                  <a:solidFill>
                    <a:srgbClr val="D1D9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[🧪 Demo Steps (IMPORTANT FOR JUDGES) ]for full steps on a line demo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40259"/>
            <a:ext cx="5828944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Demo Steps Overview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2414136"/>
            <a:chOff x="0" y="0"/>
            <a:chExt cx="4581856" cy="321884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6200"/>
              <a:ext cx="458185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Public Reporting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990123"/>
              <a:ext cx="4581856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Users can submit incidents easily and instantly update the map.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36392" cy="2413622"/>
            <a:chOff x="0" y="0"/>
            <a:chExt cx="4581856" cy="321816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6200"/>
              <a:ext cx="458185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Instant Updates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989438"/>
              <a:ext cx="4581856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0F0F0"/>
                  </a:solidFill>
                  <a:latin typeface="DM Sans"/>
                  <a:ea typeface="DM Sans"/>
                  <a:cs typeface="DM Sans"/>
                  <a:sym typeface="DM Sans"/>
                </a:rPr>
                <a:t>Real-time map updates ensure immediate visibility of reported incidents.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94532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F0F0F0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Incident Reporting &amp; Response Platform</dc:description>
  <dc:identifier>DAG8yAG13oI</dc:identifier>
  <dcterms:modified xsi:type="dcterms:W3CDTF">2011-08-01T06:04:30Z</dcterms:modified>
  <cp:revision>1</cp:revision>
  <dc:title>Presentation - Incident Reporting &amp; Response Platform</dc:title>
</cp:coreProperties>
</file>